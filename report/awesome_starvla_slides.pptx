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wesome_starvl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wesome_starvl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github.com/asimfish/awesome_starvla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4000500" cy="6858000"/>
            <a:chOff x="0" y="0"/>
            <a:chExt cx="40005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000500" cy="68580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7304" y="708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awesome_starvla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5018" y="983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调研汇报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6542" y="5740718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年 9 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7304" y="6042660"/>
              <a:ext cx="3089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github.com/asimfish/awesome_starvla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52950" y="1905000"/>
            <a:ext cx="4838700" cy="3383089"/>
            <a:chOff x="4552950" y="1905000"/>
            <a:chExt cx="4838700" cy="3383089"/>
          </a:xfrm>
        </p:grpSpPr>
        <p:sp>
          <p:nvSpPr>
            <p:cNvPr id="8" name="Rectangle 8"/>
            <p:cNvSpPr/>
            <p:nvPr/>
          </p:nvSpPr>
          <p:spPr>
            <a:xfrm>
              <a:off x="4572000" y="1905000"/>
              <a:ext cx="685800" cy="381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52950" y="2404110"/>
              <a:ext cx="4838700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42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预训练不是双刃剑，</a:t>
              </a:r>
              <a:br/>
              <a:r>
                <a:rPr lang="zh-CN" sz="42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配方决定符号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61332" y="4021455"/>
              <a:ext cx="374180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从 StarVLA 到 VLAct：</a:t>
              </a:r>
              <a:br/>
              <a:r>
                <a:rPr lang="zh-CN" sz="21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 持续预训练的表示中心路线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3618" y="4965382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三篇论文 + 一个代码库的系统调研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01 · 开场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100911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同一个骨干、同样含 InternData-A1 的数据，两篇论文结论相反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4237101" cy="322707"/>
            <a:chOff x="791718" y="1250632"/>
            <a:chExt cx="4237101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差别不在数据量，在轨迹如何塑造骨干表征</a:t>
              </a:r>
            </a:p>
          </p:txBody>
        </p:sp>
      </p:grpSp>
      <p:graphicFrame>
        <p:nvGraphicFramePr>
          <p:cNvPr id="9" name="p02-opening-table"/>
          <p:cNvGraphicFramePr>
            <a:graphicFrameLocks noGrp="1"/>
          </p:cNvGraphicFramePr>
          <p:nvPr/>
        </p:nvGraphicFramePr>
        <p:xfrm>
          <a:off x="609600" y="1866900"/>
          <a:ext cx="10972800" cy="1905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05000"/>
                <a:gridCol w="2476500"/>
                <a:gridCol w="4952999"/>
                <a:gridCol w="1638301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预训练方式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RoboCasa-GR1（预训练未见的人形）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StarVLA-α（2026-04）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朴素动作拟合 + OXE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24×10 demos：9.8 → </a:t>
                      </a:r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双刃剑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StarVLA-α（2026-04）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朴素动作拟合 + InternData-A1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24×1000：53.8 → </a:t>
                      </a:r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35.4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双刃剑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VLAct（2026-08）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表示中心配方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全量 48.8 → </a:t>
                      </a:r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54.0</a:t>
                      </a:r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</a:p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20% 数据 </a:t>
                      </a:r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</a:t>
                      </a:r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，已超全量 GR00T-N1.6（47.6）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净收益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602742" y="4197668"/>
            <a:ext cx="10979658" cy="907732"/>
            <a:chOff x="602742" y="4197668"/>
            <a:chExt cx="10979658" cy="907732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4197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本次汇报的路线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09600" y="4533900"/>
              <a:ext cx="2914650" cy="571500"/>
            </a:xfrm>
            <a:prstGeom prst="chevron">
              <a:avLst/>
            </a:prstGeom>
            <a:solidFill>
              <a:srgbClr val="E3EEF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5650" y="4533900"/>
              <a:ext cx="2914650" cy="571500"/>
            </a:xfrm>
            <a:prstGeom prst="chevron">
              <a:avLst/>
            </a:prstGeom>
            <a:solidFill>
              <a:srgbClr val="E3EEF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981700" y="4533900"/>
              <a:ext cx="2914650" cy="571500"/>
            </a:xfrm>
            <a:prstGeom prst="chevron">
              <a:avLst/>
            </a:prstGeom>
            <a:solidFill>
              <a:srgbClr val="E3EEF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667750" y="4533900"/>
              <a:ext cx="2914650" cy="571500"/>
            </a:xfrm>
            <a:prstGeom prst="chevron">
              <a:avLst/>
            </a:prstGeom>
            <a:solidFill>
              <a:srgbClr val="0173B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21842" y="4626292"/>
              <a:ext cx="9896551" cy="469964"/>
              <a:chOff x="1021842" y="4626292"/>
              <a:chExt cx="9896551" cy="46996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21842" y="4626292"/>
                <a:ext cx="13940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StarVLA 代码库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2604" y="48615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基础设施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07892" y="4626292"/>
                <a:ext cx="9850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350" b="1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StarVLA-α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08654" y="486156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对照板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93942" y="4626292"/>
                <a:ext cx="5563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VLAct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94704" y="4861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配方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79992" y="462629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下一步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80754" y="486156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基准 · 代码落点 · 路线图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04266" y="6497002"/>
              <a:ext cx="49447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来源：StarVLA-α（arXiv 2604.11757）表 3；VLAct（arXiv 2608.27550）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01 · 开场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三篇论文：同一团队、同一骨干、同一代码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6680454" cy="322707"/>
            <a:chOff x="791718" y="1250632"/>
            <a:chExt cx="6680454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这让动作头、预训练配方、动作空间三个变量第一次可以被单独隔离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1866900"/>
            <a:ext cx="10972800" cy="2095500"/>
            <a:chOff x="609600" y="1866900"/>
            <a:chExt cx="10972800" cy="20955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2705100" cy="2095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66900"/>
              <a:ext cx="2705100" cy="381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743450" y="1866900"/>
              <a:ext cx="2705100" cy="2095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43450" y="1866900"/>
              <a:ext cx="2705100" cy="381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877300" y="1866900"/>
              <a:ext cx="2705100" cy="2095500"/>
            </a:xfrm>
            <a:prstGeom prst="rect">
              <a:avLst/>
            </a:prstGeom>
            <a:solidFill>
              <a:srgbClr val="E0F2E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877300" y="1866900"/>
              <a:ext cx="2705100" cy="381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91718" y="2203132"/>
              <a:ext cx="10700042" cy="1267969"/>
              <a:chOff x="791718" y="2203132"/>
              <a:chExt cx="10700042" cy="126796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91718" y="2203132"/>
                <a:ext cx="17038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StarVLA 代码库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3242" y="2635568"/>
                <a:ext cx="15392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arXiv 2604.05014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3242" y="2921318"/>
                <a:ext cx="17493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骨干–动作头两条契约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3242" y="3207068"/>
                <a:ext cx="20855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4 头 × 2 类骨干 × 13 基准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925568" y="2203132"/>
                <a:ext cx="12039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650" b="1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StarVLA-α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27092" y="2635568"/>
                <a:ext cx="24599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arXiv 2604.11757 · ECCV 26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27092" y="2921318"/>
                <a:ext cx="21835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最简基线 = 强 VLM + MLP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27092" y="3207068"/>
                <a:ext cx="1667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重新检验三个“常识”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59418" y="2203132"/>
                <a:ext cx="6799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VLAct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60942" y="2635568"/>
                <a:ext cx="15392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arXiv 2608.27550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060942" y="29213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表示中心持续预训练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060942" y="3207068"/>
                <a:ext cx="24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冻浅层 + 三头 + 统一动作空间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3352800" y="2914650"/>
              <a:ext cx="1314450" cy="1"/>
            </a:xfrm>
            <a:prstGeom prst="line">
              <a:avLst/>
            </a:prstGeom>
            <a:noFill/>
            <a:ln w="19050">
              <a:solidFill>
                <a:srgbClr val="5F6772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7486650" y="2914650"/>
              <a:ext cx="1314450" cy="1"/>
            </a:xfrm>
            <a:prstGeom prst="line">
              <a:avLst/>
            </a:prstGeom>
            <a:noFill/>
            <a:ln w="19050">
              <a:solidFill>
                <a:srgbClr val="5F6772"/>
              </a:solidFill>
              <a:tailEnd type="triangle" w="lg" len="lg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3538347" y="2670810"/>
              <a:ext cx="5196078" cy="596646"/>
              <a:chOff x="3538347" y="2670810"/>
              <a:chExt cx="5196078" cy="596646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3538347" y="26708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提供基础设施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91425" y="26708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预训练是双刃剑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765085" y="3032760"/>
                <a:ext cx="7956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F6772"/>
                    </a:solidFill>
                    <a:latin typeface="Arial"/>
                    <a:ea typeface="Microsoft YaHei"/>
                    <a:cs typeface="Arial"/>
                  </a:rPr>
                  <a:t>⇒ 为什么？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00100" y="4298632"/>
            <a:ext cx="9167793" cy="703707"/>
            <a:chOff x="800100" y="4298632"/>
            <a:chExt cx="9167793" cy="703707"/>
          </a:xfrm>
        </p:grpSpPr>
        <p:sp>
          <p:nvSpPr>
            <p:cNvPr id="35" name="Rectangle 35"/>
            <p:cNvSpPr/>
            <p:nvPr/>
          </p:nvSpPr>
          <p:spPr>
            <a:xfrm>
              <a:off x="800100" y="43624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0318" y="4298632"/>
              <a:ext cx="89475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共同点：同一团队（HKUST / CUHK / SmartMore，Jiaya Jia 组）、同一骨干、同一代码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0100" y="47434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0318" y="4679632"/>
              <a:ext cx="7315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本仓库：3 篇论文中英 PDF、7 份精读报告、~100 篇文献编目、本 PPT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04266" y="6497002"/>
              <a:ext cx="5438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来源：arXiv 2604.05014 / 2604.11757 / 2608.27550；awesome_starvla README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382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02 · StarVLA 代码库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73080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StarVLA：两条契约把 VLA 拆成可替换的部件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9177672" cy="322707"/>
            <a:chOff x="791718" y="1250632"/>
            <a:chExt cx="9177672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9177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外层契约：训练输入 = 部署观测；内层契约：统一 hidden state 连接骨干与头，可独立替换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1775460"/>
            <a:ext cx="10972800" cy="7482840"/>
            <a:chOff x="609600" y="1775460"/>
            <a:chExt cx="10972800" cy="7482840"/>
          </a:xfrm>
        </p:grpSpPr>
        <p:sp>
          <p:nvSpPr>
            <p:cNvPr id="9" name="TextBox 9"/>
            <p:cNvSpPr txBox="1"/>
            <p:nvPr/>
          </p:nvSpPr>
          <p:spPr>
            <a:xfrm>
              <a:off x="3813658" y="1775460"/>
              <a:ext cx="485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内层契约：骨干与头通过统一 hidden-state 规格连接，可独立替换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5400000">
              <a:off x="6134100" y="-1304925"/>
              <a:ext cx="209550" cy="691515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rgbClr val="5F677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714500" cy="1143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81300" y="2381250"/>
              <a:ext cx="2762250" cy="1143000"/>
            </a:xfrm>
            <a:prstGeom prst="rect">
              <a:avLst/>
            </a:prstGeom>
            <a:solidFill>
              <a:srgbClr val="E3EEF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00750" y="2381250"/>
              <a:ext cx="1333500" cy="1143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173B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91450" y="2381250"/>
              <a:ext cx="1905000" cy="1143000"/>
            </a:xfrm>
            <a:prstGeom prst="rect">
              <a:avLst/>
            </a:prstGeom>
            <a:solidFill>
              <a:srgbClr val="E0F2E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153650" y="2381250"/>
              <a:ext cx="1428750" cy="1143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54380" y="2524125"/>
              <a:ext cx="10365486" cy="933831"/>
              <a:chOff x="754380" y="2524125"/>
              <a:chExt cx="10365486" cy="93383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54380" y="25812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原始观测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5904" y="2899410"/>
                <a:ext cx="13947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RGB 多视角 + 指令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5904" y="3128010"/>
                <a:ext cx="6502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(+ 状态)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26080" y="2524125"/>
                <a:ext cx="7555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VL 骨干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27604" y="2804160"/>
                <a:ext cx="20606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Qwen2.5/3-VL · Qwen3.5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7604" y="3013710"/>
                <a:ext cx="24434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Florence-2 · InternVL · Gemma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927604" y="3223260"/>
                <a:ext cx="22341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或 Cosmos / Wan（视频 DiT）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68695" y="2727960"/>
                <a:ext cx="9976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hidden state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81795" y="3008948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i="1" dirty="0">
                    <a:solidFill>
                      <a:srgbClr val="0173B2"/>
                    </a:solidFill>
                    <a:latin typeface="Arial"/>
                    <a:ea typeface="Arial"/>
                    <a:cs typeface="Arial"/>
                  </a:rPr>
                  <a:t>z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36230" y="2581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动作头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37754" y="2937510"/>
                <a:ext cx="18466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FAST / OFT / π / GR00T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298430" y="2581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动作块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299954" y="29375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归一化动作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343150" y="2952750"/>
              <a:ext cx="7753350" cy="1"/>
              <a:chOff x="2343150" y="2952750"/>
              <a:chExt cx="7753350" cy="1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2343150" y="29527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F6772"/>
                </a:solidFill>
                <a:tailEnd type="triangle" w="lg" len="lg"/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5562600" y="29527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F6772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7353300" y="29527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F6772"/>
                </a:solidFill>
                <a:tailEnd type="triangle" w="lg" len="lg"/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9715500" y="29527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F6772"/>
                </a:solidFill>
                <a:tailEnd type="triangle" w="lg" len="lg"/>
              </a:ln>
            </p:spPr>
          </p:sp>
        </p:grpSp>
        <p:sp>
          <p:nvSpPr>
            <p:cNvPr id="35" name="Freeform 35"/>
            <p:cNvSpPr/>
            <p:nvPr/>
          </p:nvSpPr>
          <p:spPr>
            <a:xfrm rot="-5400000">
              <a:off x="5991225" y="-1714500"/>
              <a:ext cx="209550" cy="109728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rgbClr val="5F677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94228" y="4023360"/>
              <a:ext cx="5803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外层契约：forward / predict_action 都直接吃原始观测，训练输入 = 部署观测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0100" y="4527232"/>
            <a:ext cx="10458513" cy="1903857"/>
            <a:chOff x="800100" y="4527232"/>
            <a:chExt cx="10458513" cy="1903857"/>
          </a:xfrm>
        </p:grpSpPr>
        <p:sp>
          <p:nvSpPr>
            <p:cNvPr id="38" name="Rectangle 38"/>
            <p:cNvSpPr/>
            <p:nvPr/>
          </p:nvSpPr>
          <p:spPr>
            <a:xfrm>
              <a:off x="800100" y="45910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0318" y="4527232"/>
              <a:ext cx="60308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每个 framework 文件可单独运行（smoke test）；</a:t>
              </a:r>
              <a:br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YAML + 点路径命令行覆盖（--framework.qwenvl.base_vlm）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00100" y="52006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0318" y="5136832"/>
              <a:ext cx="65471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冻结 = 模块名正则；分模块学习率 = trainer.learning_rate 字典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00100" y="55245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0318" y="5460682"/>
              <a:ext cx="10238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评测：WebSocket 策略服务器 + 基准侧薄适配器（model2libero_interface.py 等），仿真与真机共用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0100" y="58483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0318" y="5784532"/>
              <a:ext cx="7588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13 个仿真基准 + 真机（Franka / Realman / Unitree G1 / RoboChallenge）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0100" y="61722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0318" y="6108382"/>
              <a:ext cx="91161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多节点扩展：GR00T 头从 8 卡到 256 卡效率 </a:t>
              </a:r>
              <a:r>
                <a:rPr lang="en-US" sz="1650" b="1" dirty="0">
                  <a:solidFill>
                    <a:srgbClr val="0173B2"/>
                  </a:solidFill>
                  <a:latin typeface="Arial"/>
                  <a:ea typeface="Arial"/>
                  <a:cs typeface="Arial"/>
                </a:rPr>
                <a:t>79.1%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，数据量驱动的训练可放心扩到数百卡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604266" y="6497002"/>
              <a:ext cx="44649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来源：StarVLA（arXiv 2604.05014）；reports/02、04 代码库分析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382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02 · StarVLA 代码库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四种动作头只在取动作方式上不同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7870866" cy="322707"/>
            <a:chOff x="791718" y="1250632"/>
            <a:chExt cx="7870866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78708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OFT 同时是诊断工具：它表现好 ⇒ 骨干表征线性可读地暴露了连续控制信息</a:t>
              </a:r>
            </a:p>
          </p:txBody>
        </p:sp>
      </p:grpSp>
      <p:graphicFrame>
        <p:nvGraphicFramePr>
          <p:cNvPr id="9" name="p05-heads-table"/>
          <p:cNvGraphicFramePr>
            <a:graphicFrameLocks noGrp="1"/>
          </p:cNvGraphicFramePr>
          <p:nvPr/>
        </p:nvGraphicFramePr>
        <p:xfrm>
          <a:off x="609600" y="1676400"/>
          <a:ext cx="10972800" cy="2133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52501"/>
                <a:gridCol w="2857500"/>
                <a:gridCol w="4381499"/>
                <a:gridCol w="278130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离散 token，LLM 词表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 token 自回归交叉熵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 + 逆 tokenizer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个 action query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个 query 输出与 a(t+k) 的平均 L1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一次前向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l-GR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π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 cross-DiT 流匹配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流匹配 MSE：预测速度 v ≈ A − ε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步积分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GR00T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双系统：VLM 慢 + DiT 快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同上，额外条件于状态 s、本体 e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步去噪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91718" y="4070032"/>
            <a:ext cx="8922315" cy="322707"/>
            <a:chOff x="791718" y="4070032"/>
            <a:chExt cx="8922315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791718" y="4070032"/>
              <a:ext cx="8922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线性路径 A</a:t>
              </a:r>
              <a:r>
                <a:rPr lang="el-GR" sz="1050" baseline="30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τ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 = (1 − τ)ε + τA，目标速度 u = A − ε；π 与 GR00T 只差运动模块的耦合方式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4527232"/>
            <a:ext cx="9205471" cy="1675257"/>
            <a:chOff x="800100" y="4527232"/>
            <a:chExt cx="9205471" cy="1675257"/>
          </a:xfrm>
        </p:grpSpPr>
        <p:sp>
          <p:nvSpPr>
            <p:cNvPr id="12" name="Rectangle 12"/>
            <p:cNvSpPr/>
            <p:nvPr/>
          </p:nvSpPr>
          <p:spPr>
            <a:xfrm>
              <a:off x="800100" y="45910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4527232"/>
              <a:ext cx="880948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StarVLA-α 同骨干、同数据只换头：FAST 在 WidowX 落后 </a:t>
              </a:r>
              <a:r>
                <a:rPr lang="en-US" sz="1650" b="1" dirty="0">
                  <a:solidFill>
                    <a:srgbClr val="DE8F05"/>
                  </a:solidFill>
                  <a:latin typeface="Arial"/>
                  <a:ea typeface="Arial"/>
                  <a:cs typeface="Arial"/>
                </a:rPr>
                <a:t>29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 个点、RoboTwin 落后 </a:t>
              </a:r>
              <a:r>
                <a:rPr lang="en-US" sz="1650" b="1" dirty="0">
                  <a:solidFill>
                    <a:srgbClr val="DE8F05"/>
                  </a:solidFill>
                  <a:latin typeface="Arial"/>
                  <a:ea typeface="Arial"/>
                  <a:cs typeface="Arial"/>
                </a:rPr>
                <a:t>16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 个点；</a:t>
              </a:r>
              <a:br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三种连续头（MLP / GR00T / π）在 LIBERO 与 RoboTwin 的差距 &lt; 1 个点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52578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318" y="5193982"/>
              <a:ext cx="6036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FAST 是唯一不改架构的方案，代价是离散瓶颈 + 串行解码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56007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318" y="5536882"/>
              <a:ext cx="604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新范式 = 实现并注册一个头；骨干、训练循环、评测管线不动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59436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0318" y="5879782"/>
              <a:ext cx="89852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骨干够强时动作头的复杂度不必要；但这是同头微调的结论，VLAct 追问：骨干可复用吗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497002"/>
              <a:ext cx="5483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来源：StarVLA（arXiv 2604.05014）§3；StarVLA-α 同骨干换头实验；reports/05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057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03 · StarVLA-α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5020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最简基线 Qwen3-VL-4B + MLP 头，追平或超过更复杂系统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6282299" cy="322707"/>
            <a:chOff x="791718" y="1250632"/>
            <a:chExt cx="6282299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6282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骨干够强时，最简单的头就够用；短板只在低数据 + 关节角控制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2742" y="1644968"/>
            <a:ext cx="9894107" cy="264033"/>
            <a:chOff x="602742" y="1644968"/>
            <a:chExt cx="9894107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1644968"/>
              <a:ext cx="9894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设计：原始 RGB + 指令；z-score 归一化；无状态 / 历史 / 机器人预训练；骨干 lr 1e-5、头 lr 1e-4、cosine、≤100k 步</a:t>
              </a:r>
            </a:p>
          </p:txBody>
        </p:sp>
      </p:grpSp>
      <p:graphicFrame>
        <p:nvGraphicFramePr>
          <p:cNvPr id="11" name="p06-alpha-table"/>
          <p:cNvGraphicFramePr>
            <a:graphicFrameLocks noGrp="1"/>
          </p:cNvGraphicFramePr>
          <p:nvPr/>
        </p:nvGraphicFramePr>
        <p:xfrm>
          <a:off x="609600" y="1962150"/>
          <a:ext cx="10972800" cy="25527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90800"/>
                <a:gridCol w="1238250"/>
                <a:gridCol w="1143000"/>
                <a:gridCol w="1333500"/>
                <a:gridCol w="2857500"/>
                <a:gridCol w="1809750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LIBERO avg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WidowX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VM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clean* / random*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RoboCasa-GR1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OpenVLA-OFT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l-GR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π0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65.9 / 58.4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l-GR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π0.5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96.9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46.9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72.7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82.7 / 76.8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GR00T-N1.6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67.7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47.6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StarVLA-α（specialist）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64.6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 / 88.3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StarVLA-α（generalist）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65.2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88.7</a:t>
                      </a:r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 / 87.8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603504" y="4604385"/>
            <a:ext cx="2645359" cy="234696"/>
            <a:chOff x="603504" y="4604385"/>
            <a:chExt cx="2645359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4604385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* clean + random 数据都用于训练。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4870132"/>
            <a:ext cx="7766637" cy="1503807"/>
            <a:chOff x="800100" y="4870132"/>
            <a:chExt cx="7766637" cy="1503807"/>
          </a:xfrm>
        </p:grpSpPr>
        <p:sp>
          <p:nvSpPr>
            <p:cNvPr id="14" name="Rectangle 14"/>
            <p:cNvSpPr/>
            <p:nvPr/>
          </p:nvSpPr>
          <p:spPr>
            <a:xfrm>
              <a:off x="800100" y="49339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318" y="4870132"/>
              <a:ext cx="658615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唯一输掉的一格：RoboTwin Base（50 clean/任务）50.3 &lt; π0.5 60.2</a:t>
              </a:r>
              <a:br/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 xml:space="preserve">—— </a:t>
              </a:r>
              <a:r>
                <a:rPr lang="zh-CN" sz="165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低数据 + 关节角控制是短板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55245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318" y="5460682"/>
              <a:ext cx="5137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四个基准数据合训一个 generalist，GR1 反而 </a:t>
              </a:r>
              <a:r>
                <a:rPr lang="en-US" sz="1650" b="1" dirty="0">
                  <a:solidFill>
                    <a:srgbClr val="029E73"/>
                  </a:solidFill>
                  <a:latin typeface="Arial"/>
                  <a:ea typeface="Arial"/>
                  <a:cs typeface="Arial"/>
                </a:rPr>
                <a:t>+3.5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58483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0318" y="5784532"/>
              <a:ext cx="754641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规模与优化：4B→8B 增益 &lt; 1 点（4B 是甜点）；batch 64→1024 使 GR1 </a:t>
              </a:r>
              <a:r>
                <a:rPr lang="en-US" sz="1650" b="1" dirty="0">
                  <a:solidFill>
                    <a:srgbClr val="029E73"/>
                  </a:solidFill>
                  <a:latin typeface="Arial"/>
                  <a:ea typeface="Arial"/>
                  <a:cs typeface="Arial"/>
                </a:rPr>
                <a:t>+19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 点，</a:t>
              </a:r>
              <a:br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比模型规模影响更大；真机 RoboChallenge ARX5：SR 33.6 vs π0.5 12.7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497002"/>
              <a:ext cx="470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来源：StarVLA-α（arXiv 2604.11757）主结果与规模消融；reports/03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057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03 · StarVLA-α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1429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常识二被推翻：现有动作预训练在 StarVLA-α 里是双刃剑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8081505" cy="322707"/>
            <a:chOff x="791718" y="1250632"/>
            <a:chExt cx="808150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80815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跨域数据全面拖后腿；同域数据只在目标域低数据段有用，换到 GR1 一律掉点</a:t>
              </a:r>
            </a:p>
          </p:txBody>
        </p:sp>
      </p:grpSp>
      <p:graphicFrame>
        <p:nvGraphicFramePr>
          <p:cNvPr id="9" name="p07-pretrain-table"/>
          <p:cNvGraphicFramePr>
            <a:graphicFrameLocks noGrp="1"/>
          </p:cNvGraphicFramePr>
          <p:nvPr/>
        </p:nvGraphicFramePr>
        <p:xfrm>
          <a:off x="609600" y="1905000"/>
          <a:ext cx="10972800" cy="2095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1143000"/>
                <a:gridCol w="1809750"/>
                <a:gridCol w="1714500"/>
                <a:gridCol w="1619250"/>
                <a:gridCol w="182880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中间预训练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轨迹数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50×50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+Random×500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GR1 24×10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GR1 24×1000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50.3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53.8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OXE（跨域）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232.6k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30.2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83.6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InternData-A1（同本体）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630k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35.4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RoboTwin-Rand（同域）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25k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79.7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88.8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609600" y="4305300"/>
            <a:ext cx="10972800" cy="685800"/>
            <a:chOff x="609600" y="4305300"/>
            <a:chExt cx="10972800" cy="685800"/>
          </a:xfrm>
        </p:grpSpPr>
        <p:sp>
          <p:nvSpPr>
            <p:cNvPr id="10" name="Rectangle 10"/>
            <p:cNvSpPr/>
            <p:nvPr/>
          </p:nvSpPr>
          <p:spPr>
            <a:xfrm>
              <a:off x="609600" y="4305300"/>
              <a:ext cx="10972800" cy="685800"/>
            </a:xfrm>
            <a:prstGeom prst="rect">
              <a:avLst/>
            </a:prstGeom>
            <a:solidFill>
              <a:srgbClr val="FBEFD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4305300"/>
              <a:ext cx="57150" cy="6858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918" y="4546282"/>
              <a:ext cx="7484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这张表是 VLAct 问题定义的直接来源：是数据不对，还是训练方式不对？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100" y="5270182"/>
            <a:ext cx="10551871" cy="665607"/>
            <a:chOff x="800100" y="5270182"/>
            <a:chExt cx="10551871" cy="665607"/>
          </a:xfrm>
        </p:grpSpPr>
        <p:sp>
          <p:nvSpPr>
            <p:cNvPr id="14" name="Rectangle 14"/>
            <p:cNvSpPr/>
            <p:nvPr/>
          </p:nvSpPr>
          <p:spPr>
            <a:xfrm>
              <a:off x="800100" y="53340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318" y="5270182"/>
              <a:ext cx="10225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跨域 OXE 四列全部下降；同本体 A1 与同域 Rand 只在 RoboTwin 50×50 有效（50.3 → 63.6 / 79.7）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56769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318" y="5613082"/>
              <a:ext cx="103316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GR1（未见人形本体）上所有预训练一律掉点：9.8 → 1.2 / 2.8 / 2.2；53.8 → 27.8 / 35.4 / 33.3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497002"/>
              <a:ext cx="3823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来源：StarVLA-α（arXiv 2604.11757）表 3；reports/03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741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04 · VLAct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81318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VLAct 先导实验：单头预训练造成 decoder lock-in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9882210" cy="322707"/>
            <a:chOff x="791718" y="1250632"/>
            <a:chExt cx="9882210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9882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离散头丢信息；单一连续头把骨干锁进自己的解码几何，多头共监督是解法（PI 60.5 → 77.0）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2742" y="1644968"/>
            <a:ext cx="7298009" cy="264033"/>
            <a:chOff x="602742" y="1644968"/>
            <a:chExt cx="7298009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1644968"/>
              <a:ext cx="7298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设定：固定 Qwen3-VL-4B，只改预训练头与微调头（LIBERO-Plus / RoboTwin-Clean）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012632"/>
            <a:ext cx="5291328" cy="1262063"/>
            <a:chOff x="609600" y="2012632"/>
            <a:chExt cx="5291328" cy="1262063"/>
          </a:xfrm>
        </p:grpSpPr>
        <p:sp>
          <p:nvSpPr>
            <p:cNvPr id="11" name="Rectangle 11"/>
            <p:cNvSpPr/>
            <p:nvPr/>
          </p:nvSpPr>
          <p:spPr>
            <a:xfrm>
              <a:off x="609600" y="2019300"/>
              <a:ext cx="57150" cy="20955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1718" y="2012632"/>
              <a:ext cx="3137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(a) 离散监督能迁移，但丢信息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242887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1080" y="2371725"/>
              <a:ext cx="3791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FAST 预训练 → GR00T 微调：略好于从零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273367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1080" y="2676525"/>
              <a:ext cx="4879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保留 FAST 头：远低于任何连续头，预训练补不回来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303847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1080" y="298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离散化丢掉了幅度与时序细节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050982"/>
            <a:ext cx="4343697" cy="1262063"/>
            <a:chOff x="609600" y="4050982"/>
            <a:chExt cx="4343697" cy="1262063"/>
          </a:xfrm>
        </p:grpSpPr>
        <p:sp>
          <p:nvSpPr>
            <p:cNvPr id="20" name="Rectangle 20"/>
            <p:cNvSpPr/>
            <p:nvPr/>
          </p:nvSpPr>
          <p:spPr>
            <a:xfrm>
              <a:off x="609600" y="4057650"/>
              <a:ext cx="57150" cy="20955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718" y="4050982"/>
              <a:ext cx="41615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(b) 单一连续头造成 head-specific 坍缩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" y="446722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1080" y="4410075"/>
              <a:ext cx="2884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OFT 预训练 → OFT 微调：大涨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" y="477202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1080" y="4714875"/>
              <a:ext cx="3639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同一骨干 → PI / GR00T 微调：</a:t>
              </a:r>
              <a:r>
                <a:rPr lang="zh-CN" sz="150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低于从零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" y="5076825"/>
              <a:ext cx="76200" cy="76200"/>
            </a:xfrm>
            <a:prstGeom prst="rect">
              <a:avLst/>
            </a:prstGeom>
            <a:solidFill>
              <a:srgbClr val="5F677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1080" y="5019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动作信息还在，但只有原头能解码</a:t>
              </a:r>
            </a:p>
          </p:txBody>
        </p:sp>
      </p:grpSp>
      <p:graphicFrame>
        <p:nvGraphicFramePr>
          <p:cNvPr id="29" name="p08-lockin-table"/>
          <p:cNvGraphicFramePr>
            <a:graphicFrameLocks noGrp="1"/>
          </p:cNvGraphicFramePr>
          <p:nvPr/>
        </p:nvGraphicFramePr>
        <p:xfrm>
          <a:off x="6667500" y="1962150"/>
          <a:ext cx="4914900" cy="2133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7900"/>
                <a:gridCol w="1428750"/>
                <a:gridCol w="123825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预训练头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下游 PI 微调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vs 从零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55.1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−5.4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 + GR00T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63.1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+2.6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 + PI + GR00T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77.0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+16.5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4" name="Group 34"/>
          <p:cNvGrpSpPr/>
          <p:nvPr/>
        </p:nvGrpSpPr>
        <p:grpSpPr>
          <a:xfrm>
            <a:off x="6667500" y="4343400"/>
            <a:ext cx="4914900" cy="1562100"/>
            <a:chOff x="6667500" y="4343400"/>
            <a:chExt cx="4914900" cy="1562100"/>
          </a:xfrm>
        </p:grpSpPr>
        <p:sp>
          <p:nvSpPr>
            <p:cNvPr id="30" name="Rectangle 30"/>
            <p:cNvSpPr/>
            <p:nvPr/>
          </p:nvSpPr>
          <p:spPr>
            <a:xfrm>
              <a:off x="6667500" y="4343400"/>
              <a:ext cx="4914900" cy="1562100"/>
            </a:xfrm>
            <a:prstGeom prst="rect">
              <a:avLst/>
            </a:prstGeom>
            <a:solidFill>
              <a:srgbClr val="E3EE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004" y="44805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命名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7718" y="4736782"/>
              <a:ext cx="17659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173B2"/>
                  </a:solidFill>
                  <a:latin typeface="Arial"/>
                  <a:ea typeface="Arial"/>
                  <a:cs typeface="Arial"/>
                </a:rPr>
                <a:t>decoder lock-in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89242" y="5112068"/>
              <a:ext cx="37856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骨干把动作信息组织成预训练那个头的解码几何。</a:t>
              </a:r>
              <a:br/>
              <a:r>
                <a:rPr lang="zh-CN" sz="13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同头成功率高估了骨干可复用性。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497002"/>
              <a:ext cx="3813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来源：VLAct（arXiv 2608.27550）先导实验；reports/01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741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04 · VLAct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3262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VLAct 配方：三个组件只用于持续预训练，下游只交付骨干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9039956" cy="322707"/>
            <a:chOff x="791718" y="1250632"/>
            <a:chExt cx="9039956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9039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配方 = 保护先验 + 多头共监督 + 部分统一动作空间；下游丢掉全部预训练头，只留骨干权重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699260"/>
            <a:ext cx="10972800" cy="2091690"/>
            <a:chOff x="609600" y="1699260"/>
            <a:chExt cx="10972800" cy="2091690"/>
          </a:xfrm>
        </p:grpSpPr>
        <p:sp>
          <p:nvSpPr>
            <p:cNvPr id="9" name="TextBox 9"/>
            <p:cNvSpPr txBox="1"/>
            <p:nvPr/>
          </p:nvSpPr>
          <p:spPr>
            <a:xfrm>
              <a:off x="717804" y="1699260"/>
              <a:ext cx="6200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持续预训练（DROID + InternData-A1 + RoboCoin + MolmoAct + caption，16 GPU）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924050"/>
              <a:ext cx="6972300" cy="1866900"/>
            </a:xfrm>
            <a:prstGeom prst="rect">
              <a:avLst/>
            </a:prstGeom>
            <a:noFill/>
            <a:ln w="14288">
              <a:solidFill>
                <a:srgbClr val="5F6772"/>
              </a:solidFill>
              <a:custDash>
                <a:ds d="400000" sp="266667"/>
              </a:custDash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2114550"/>
              <a:ext cx="2133600" cy="1524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009900" y="2114550"/>
              <a:ext cx="2133600" cy="1524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276850" y="2114550"/>
              <a:ext cx="2133600" cy="15240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496300" y="2114550"/>
              <a:ext cx="3086100" cy="1524000"/>
            </a:xfrm>
            <a:prstGeom prst="rect">
              <a:avLst/>
            </a:prstGeom>
            <a:solidFill>
              <a:srgbClr val="E0F2E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88492" y="2254568"/>
              <a:ext cx="10076383" cy="1146238"/>
              <a:chOff x="888492" y="2254568"/>
              <a:chExt cx="10076383" cy="114623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88492" y="2254568"/>
                <a:ext cx="9028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① 保护先验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9254" y="25374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冻视觉编码器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9254" y="2747010"/>
                <a:ext cx="1036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+ LLM 下半层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89254" y="2956560"/>
                <a:ext cx="965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caption 混训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9254" y="3166110"/>
                <a:ext cx="12667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0.5·L(VLM-CE)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155442" y="2254568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② 多头共监督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56204" y="2537460"/>
                <a:ext cx="13350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OFT + PI + GR00T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156204" y="2747010"/>
                <a:ext cx="14176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同一 z、同一目标 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156204" y="29565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头多样性 = 正则化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422392" y="2254568"/>
                <a:ext cx="16298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③ 部分统一动作空间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423154" y="2537460"/>
                <a:ext cx="15307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20 维布局，夹爪共享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423154" y="2747010"/>
                <a:ext cx="10945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非激活维 mask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3154" y="29565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1F24"/>
                    </a:solidFill>
                    <a:latin typeface="Arial"/>
                    <a:ea typeface="Arial"/>
                    <a:cs typeface="Arial"/>
                  </a:rPr>
                  <a:t>wrap-aware loss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23154" y="31661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（周期关节角）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41842" y="2254568"/>
                <a:ext cx="9028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④ 下游微调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42604" y="2575560"/>
                <a:ext cx="19830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丢弃预训练头与 caption 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642604" y="28041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新初始化任务头，全参数解冻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42604" y="303276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B1F24"/>
                    </a:solidFill>
                    <a:latin typeface="Arial"/>
                    <a:ea typeface="Microsoft YaHei"/>
                    <a:cs typeface="Arial"/>
                  </a:rPr>
                  <a:t>数据 / 优化器 / 预算与基线相同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7620000" y="2876550"/>
              <a:ext cx="800100" cy="1"/>
            </a:xfrm>
            <a:prstGeom prst="line">
              <a:avLst/>
            </a:prstGeom>
            <a:noFill/>
            <a:ln w="19050">
              <a:solidFill>
                <a:srgbClr val="5F6772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10094" y="2632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只交付骨干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1718" y="4165282"/>
            <a:ext cx="6364491" cy="322707"/>
            <a:chOff x="791718" y="4165282"/>
            <a:chExt cx="6364491" cy="322707"/>
          </a:xfrm>
        </p:grpSpPr>
        <p:sp>
          <p:nvSpPr>
            <p:cNvPr id="37" name="TextBox 37"/>
            <p:cNvSpPr txBox="1"/>
            <p:nvPr/>
          </p:nvSpPr>
          <p:spPr>
            <a:xfrm>
              <a:off x="791718" y="4165282"/>
              <a:ext cx="6364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total</a:t>
              </a:r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 xml:space="preserve"> = 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OFT</a:t>
              </a:r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 xml:space="preserve"> + 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PI</a:t>
              </a:r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 xml:space="preserve"> + 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GR00T</a:t>
              </a:r>
              <a:r>
                <a:rPr lang="en-US" sz="165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 xml:space="preserve"> + 0.5·L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VLM-CE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，每个动作头再加 L</a:t>
              </a:r>
              <a:r>
                <a:rPr lang="en-US" sz="1050" baseline="-250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wrap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742" y="4616768"/>
            <a:ext cx="6811709" cy="721233"/>
            <a:chOff x="602742" y="4616768"/>
            <a:chExt cx="6811709" cy="721233"/>
          </a:xfrm>
        </p:grpSpPr>
        <p:sp>
          <p:nvSpPr>
            <p:cNvPr id="39" name="TextBox 39"/>
            <p:cNvSpPr txBox="1"/>
            <p:nvPr/>
          </p:nvSpPr>
          <p:spPr>
            <a:xfrm>
              <a:off x="602742" y="4616768"/>
              <a:ext cx="6811709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消融（LIBERO-Plus / RoboTwin Base Clean）：冻视觉编码器 + 下半 LLM 78.9 → 82.6</a:t>
              </a:r>
              <a:br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robot-only → +caption 75.0 → 82.6；三头 vs 单头对同头微调 +1.6～4.3</a:t>
              </a:r>
              <a:br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部分统一 vs 独立头 78.5 → 80.5；wrap-aware loss 75.5 → 80.5（+5，单项消融最大）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" y="5346382"/>
            <a:ext cx="6933990" cy="665607"/>
            <a:chOff x="800100" y="5346382"/>
            <a:chExt cx="6933990" cy="665607"/>
          </a:xfrm>
        </p:grpSpPr>
        <p:sp>
          <p:nvSpPr>
            <p:cNvPr id="41" name="Rectangle 41"/>
            <p:cNvSpPr/>
            <p:nvPr/>
          </p:nvSpPr>
          <p:spPr>
            <a:xfrm>
              <a:off x="800100" y="54102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0318" y="5346382"/>
              <a:ext cx="6713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所有对比中</a:t>
              </a:r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唯一变量是骨干权重</a:t>
              </a: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：7.6～21.4 个点的增益归因到配方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0100" y="57531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0318" y="5689282"/>
              <a:ext cx="63112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无新模块、无本体适配器、无路由：可在 StarVLA 上直接复现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497002"/>
              <a:ext cx="395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来源：VLAct（arXiv 2608.27550）方法与消融；reports/01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741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04 · VLAct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89712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VLAct 主结果：只换骨干权重，相对同骨干基线全面提升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8743302" cy="322707"/>
            <a:chOff x="791718" y="1250632"/>
            <a:chExt cx="8743302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8743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LIBERO-Plus +7.6、VLA-Arena +21.4；GR1 用 20% 数据就超过全量 GR00T-N1.6</a:t>
              </a:r>
            </a:p>
          </p:txBody>
        </p:sp>
      </p:grpSp>
      <p:graphicFrame>
        <p:nvGraphicFramePr>
          <p:cNvPr id="9" name="p10-results-table"/>
          <p:cNvGraphicFramePr>
            <a:graphicFrameLocks noGrp="1"/>
          </p:cNvGraphicFramePr>
          <p:nvPr/>
        </p:nvGraphicFramePr>
        <p:xfrm>
          <a:off x="609600" y="1638300"/>
          <a:ext cx="10972800" cy="3352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1714500"/>
                <a:gridCol w="1809750"/>
                <a:gridCol w="1809750"/>
                <a:gridCol w="2781300"/>
              </a:tblGrid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VLAct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同骨干基线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最强外部对手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LIBERO-Plus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类扰动均值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82.6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ABot-M0 80.5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VLA-Arena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套件加权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54.8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l-GR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π0.5 44.3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2.0 Base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Clean / Random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80.5 / 41.5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61.7 / 10.5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X-VLA 70.0 / 39.0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2.0 Data Scaling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Clean / Random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92.5</a:t>
                      </a:r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 / 90.8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 / 88.3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HoloBrain-0 91.9 / 92.3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DOMINO（动态）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/ MS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18.50 / 34.20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10.86 / 30.49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l-GR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π0.5 9.63 / 26.17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RoboCasa-GR1（未见本体）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GR00T-N1.6 47.6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RoboCasa-GR1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 数据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超全量 GR00T-N1.6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RoboDojo（ARX X5，未见）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 / 成功率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10.66 / 7.60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α 6.40 / 3.24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DM0.5 24.90 / 19.34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真机 Franka 单臂短程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任务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77.5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真机 Franka 双臂协调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任务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44.0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38100" marR="381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800100" y="5193982"/>
            <a:ext cx="9689675" cy="1008507"/>
            <a:chOff x="800100" y="5193982"/>
            <a:chExt cx="9689675" cy="1008507"/>
          </a:xfrm>
        </p:grpSpPr>
        <p:sp>
          <p:nvSpPr>
            <p:cNvPr id="10" name="Rectangle 10"/>
            <p:cNvSpPr/>
            <p:nvPr/>
          </p:nvSpPr>
          <p:spPr>
            <a:xfrm>
              <a:off x="800100" y="52578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318" y="5193982"/>
              <a:ext cx="9469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LIBERO-Plus 增益集中在 Camera（+26.9）/ Robot / Noise / Layout；</a:t>
              </a:r>
              <a:r>
                <a:rPr lang="zh-CN" sz="165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Language 维度 −5.5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56007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5536882"/>
              <a:ext cx="708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预训练只用单臂数据，双臂协调 44.0 → 72.0（叠裤子、叠毛巾各 +30）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59436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318" y="5879782"/>
              <a:ext cx="85220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RoboDojo 35 策略中成功率第 6，超过全部 4 个 WAM；</a:t>
              </a:r>
              <a:r>
                <a:rPr lang="zh-CN" sz="165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Memory 0.66 / 0.56 接近零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497002"/>
              <a:ext cx="438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来源：VLAct（arXiv 2608.27550）主结果与真机附录；reports/01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05 · 对话与评价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同样的数据源，配方决定符号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8181122" cy="322707"/>
            <a:chOff x="791718" y="1250632"/>
            <a:chExt cx="8181122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81811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“Beyond Data Scaling” 的实证含义：预训练是否有用取决于配方，而不是数据量</a:t>
              </a:r>
            </a:p>
          </p:txBody>
        </p:sp>
      </p:grpSp>
      <p:graphicFrame>
        <p:nvGraphicFramePr>
          <p:cNvPr id="9" name="p11-dialogue-table"/>
          <p:cNvGraphicFramePr>
            <a:graphicFrameLocks noGrp="1"/>
          </p:cNvGraphicFramePr>
          <p:nvPr/>
        </p:nvGraphicFramePr>
        <p:xfrm>
          <a:off x="609600" y="1676400"/>
          <a:ext cx="10972800" cy="30861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09800"/>
                <a:gridCol w="3619500"/>
                <a:gridCol w="514350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StarVLA-α（2026-04）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VLAct（2026-08）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骨干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Qwen3-VL-4B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Qwen3-VL-4B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预训练数据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OXE / InternData-A1 / RoboTwin-Rand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DROID + InternData-A1 + RoboCoin</a:t>
                      </a:r>
                    </a:p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MolmoAct + caption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预训练方式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MLP 头，全参数，动作-only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冻浅层，三头，部分统一空间，caption 混训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GR1（未见本体）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53.8 → </a:t>
                      </a:r>
                      <a:r>
                        <a:rPr lang="en-US" sz="135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35.4</a:t>
                      </a:r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（+A1）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48.8 → </a:t>
                      </a:r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54.0</a:t>
                      </a:r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；20% 数据 </a:t>
                      </a:r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Base Clean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50.3 → 63.6（+A1）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61.7 → </a:t>
                      </a:r>
                      <a:r>
                        <a:rPr lang="en-US" sz="135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80.5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预训练是双刃剑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预训练是否有用取决于配方</a:t>
                      </a:r>
                    </a:p>
                  </a:txBody>
                  <a:tcPr anchor="ctr"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>
            <a:off x="800100" y="5003482"/>
            <a:ext cx="7225474" cy="1275207"/>
            <a:chOff x="800100" y="5003482"/>
            <a:chExt cx="7225474" cy="1275207"/>
          </a:xfrm>
        </p:grpSpPr>
        <p:sp>
          <p:nvSpPr>
            <p:cNvPr id="10" name="Rectangle 10"/>
            <p:cNvSpPr/>
            <p:nvPr/>
          </p:nvSpPr>
          <p:spPr>
            <a:xfrm>
              <a:off x="800100" y="50673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318" y="5003482"/>
              <a:ext cx="560127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动作空间上两篇也叠加：零填充 &gt; 独立头 / RDT（α 表 6）；</a:t>
              </a:r>
              <a:br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零填充之上再做物理同义维对齐再 +1（VLAct 表 12）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573405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5670232"/>
              <a:ext cx="700525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共训保护先验一线：ST4VLA（StarVLA 报告 §6）Google VM 66.1 → 84.6，</a:t>
              </a:r>
              <a:br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VLAct 选 caption 作最强单源锚点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497002"/>
              <a:ext cx="40469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来源：StarVLA-α 表 3、表 6；VLAct 表 12；reports/05、06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05 · 对话与评价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批判性评价：归因干净、组件可推翻；规模、记忆与语言留白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8235315" cy="322707"/>
            <a:chOff x="791718" y="1250632"/>
            <a:chExt cx="823531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做得好的是干净归因和极简组件；局限集中在规模曲线、记忆、语言维度与开销量化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676400"/>
            <a:ext cx="5295900" cy="4381500"/>
            <a:chOff x="609600" y="1676400"/>
            <a:chExt cx="5295900" cy="4381500"/>
          </a:xfrm>
        </p:grpSpPr>
        <p:sp>
          <p:nvSpPr>
            <p:cNvPr id="9" name="Rectangle 9"/>
            <p:cNvSpPr/>
            <p:nvPr/>
          </p:nvSpPr>
          <p:spPr>
            <a:xfrm>
              <a:off x="609600" y="1676400"/>
              <a:ext cx="5295900" cy="43815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676400"/>
              <a:ext cx="5295900" cy="381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1718" y="18792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29E73"/>
                  </a:solidFill>
                  <a:latin typeface="Arial"/>
                  <a:ea typeface="Microsoft YaHei"/>
                  <a:cs typeface="Arial"/>
                </a:rPr>
                <a:t>做得好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2333625"/>
              <a:ext cx="76200" cy="762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2276475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归因干净：头、初始化、数据、优化器、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预算全同，只换骨干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2981325"/>
              <a:ext cx="76200" cy="762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2924175"/>
              <a:ext cx="3958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组件简单到可以被推翻：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一个正则冻结、三个已有头并联、一张 20 维表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629025"/>
              <a:ext cx="76200" cy="762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357187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把“哪个头最好”换成“如何让骨干对头不敏感”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4010025"/>
              <a:ext cx="76200" cy="762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1080" y="3952875"/>
              <a:ext cx="2720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成本诚实：开源数据 + 16 GPU，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与工业系统差距明标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676400"/>
            <a:ext cx="5295900" cy="4381500"/>
            <a:chOff x="6286500" y="1676400"/>
            <a:chExt cx="5295900" cy="43815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676400"/>
              <a:ext cx="5295900" cy="43815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1676400"/>
              <a:ext cx="5295900" cy="381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8618" y="18792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局限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23336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97980" y="2276475"/>
              <a:ext cx="3727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只有 4B；持续预训练下的规模曲线空白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7146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97980" y="2657475"/>
              <a:ext cx="4703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Memory 接近零：单帧、无历史的架构假设没被挑战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30956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97980" y="3038475"/>
              <a:ext cx="3025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“头无关”有边界：Base/Random 下</a:t>
              </a:r>
              <a:br/>
              <a:r>
                <a:rPr lang="en-US" sz="15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OFT 41.5 vs GR00T 22.9 / PI 23.7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37433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97980" y="3686175"/>
              <a:ext cx="2242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Language 维度掉 5.5 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41243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97980" y="4067175"/>
              <a:ext cx="2710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Data Scaling 对比算力不可控；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真机每任务只有 10 次 rollout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47720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97980" y="4714875"/>
              <a:ext cx="37109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三头共训开销未量化；20 维布局手工设计，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人形 / 灵巧手如何扩展未讨论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5419725"/>
              <a:ext cx="76200" cy="762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97980" y="5362575"/>
              <a:ext cx="3968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同名基线不一致：RoboTwin Base OFT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61.7（VLAct）vs 50.38（StarVLA README）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04266" y="6497002"/>
              <a:ext cx="456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来源：reports/01（VLAct 精读）、03（StarVLA-α）批判性评价小节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06 · 代码库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8649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代码库地图：契约落在 baseframework 与 collate_fn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7918234" cy="322707"/>
            <a:chOff x="791718" y="1250632"/>
            <a:chExt cx="7918234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7918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两条契约在代码里只是软约束；三份训练循环约 80% 重复，是最明显的可重构点</a:t>
              </a:r>
            </a:p>
          </p:txBody>
        </p:sp>
      </p:grpSp>
      <p:graphicFrame>
        <p:nvGraphicFramePr>
          <p:cNvPr id="9" name="p13-codemap-table"/>
          <p:cNvGraphicFramePr>
            <a:graphicFrameLocks noGrp="1"/>
          </p:cNvGraphicFramePr>
          <p:nvPr/>
        </p:nvGraphicFramePr>
        <p:xfrm>
          <a:off x="609600" y="1676400"/>
          <a:ext cx="6191250" cy="3505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00250"/>
                <a:gridCol w="4191000"/>
              </a:tblGrid>
              <a:tr h="3429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 / 关键类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model/framework/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个注册框架（VLM4A 20、WM4A 6、VM4A 2）；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build_framework(cfg) 查注册表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modules/action_model/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个动作头文件：MLP(OFT)、FAST、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Layerwise-FM(PI)、FM DiT(GR00T)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modules/vlm/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个接口，get_vlm_model 分派 9 个分支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dataloader/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GR00T LeRobot 管线移植；VLM LLaVA-json；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UMI 适配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training/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个显式循环脚本 + trainer_utils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（冻结 / 分组 lr / 加载）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examples/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个目录：13 仿真基准、5 真机、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模型扩展、1 human2robot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deployment/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WebSocket / ZMQ 策略服务器、Docker、HF 上传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7173468" y="1726882"/>
            <a:ext cx="4067632" cy="1928813"/>
            <a:chOff x="7173468" y="1726882"/>
            <a:chExt cx="4067632" cy="1928813"/>
          </a:xfrm>
        </p:grpSpPr>
        <p:sp>
          <p:nvSpPr>
            <p:cNvPr id="10" name="TextBox 10"/>
            <p:cNvSpPr txBox="1"/>
            <p:nvPr/>
          </p:nvSpPr>
          <p:spPr>
            <a:xfrm>
              <a:off x="717346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实测规模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181850" y="21240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2830" y="2066925"/>
              <a:ext cx="2853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261 个 Python 文件，57.6k 行；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starVLA/ 139 个文件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81850" y="27336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02830" y="267652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12 个 model2*_interface.py 基准适配器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81850" y="30765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2830" y="3019425"/>
              <a:ext cx="3838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测试：7 文件 / 40 用例 / 1,067 行，</a:t>
              </a:r>
              <a:r>
                <a:rPr lang="zh-CN" sz="1500" b="1" dirty="0">
                  <a:solidFill>
                    <a:srgbClr val="DE8F05"/>
                  </a:solidFill>
                  <a:latin typeface="Arial"/>
                  <a:ea typeface="Microsoft YaHei"/>
                  <a:cs typeface="Arial"/>
                </a:rPr>
                <a:t>无 CI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81850" y="34194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02830" y="336232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浅历史 131 次提交，40 位作者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73468" y="3898582"/>
            <a:ext cx="4140327" cy="1852613"/>
            <a:chOff x="7173468" y="3898582"/>
            <a:chExt cx="4140327" cy="1852613"/>
          </a:xfrm>
        </p:grpSpPr>
        <p:sp>
          <p:nvSpPr>
            <p:cNvPr id="20" name="TextBox 20"/>
            <p:cNvSpPr txBox="1"/>
            <p:nvPr/>
          </p:nvSpPr>
          <p:spPr>
            <a:xfrm>
              <a:off x="7173468" y="38985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契约在代码中的落点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81850" y="42957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02830" y="4238625"/>
              <a:ext cx="3787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baseframework（继承 PreTrainedModel）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软约束 forward / predict_action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81850" y="49053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02830" y="4848225"/>
              <a:ext cx="39109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collate_fn 就是 return batch：样本 =</a:t>
              </a:r>
              <a:br/>
              <a:r>
                <a:rPr lang="en-US" sz="1500" dirty="0">
                  <a:solidFill>
                    <a:srgbClr val="1B1F24"/>
                  </a:solidFill>
                  <a:latin typeface="Arial"/>
                  <a:ea typeface="Arial"/>
                  <a:cs typeface="Arial"/>
                </a:rPr>
                <a:t>{action, image, lang, robot_tag, state?}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81850" y="5514975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02830" y="545782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框架文件末尾自带 __main__ smoke test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497002"/>
              <a:ext cx="6658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来源：starVLA_dev @ d81fc66（2026-09）实测；reports/02、04；assets/starvla_code_facts.md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06 · 代码库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5562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VLAct 配方在 StarVLA 中：两项已有、两项部分、两项缺失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9151134" cy="322707"/>
            <a:chOff x="791718" y="1250632"/>
            <a:chExt cx="9151134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915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工程量集中在多头框架与动作空间 transform；唯一多 loss 先例：LangForce 双支路加权</a:t>
              </a:r>
            </a:p>
          </p:txBody>
        </p:sp>
      </p:grpSp>
      <p:graphicFrame>
        <p:nvGraphicFramePr>
          <p:cNvPr id="9" name="p14-status-table"/>
          <p:cNvGraphicFramePr>
            <a:graphicFrameLocks noGrp="1"/>
          </p:cNvGraphicFramePr>
          <p:nvPr/>
        </p:nvGraphicFramePr>
        <p:xfrm>
          <a:off x="609600" y="1676400"/>
          <a:ext cx="10972800" cy="33147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42901"/>
                <a:gridCol w="2381250"/>
                <a:gridCol w="666751"/>
                <a:gridCol w="4190999"/>
                <a:gridCol w="3390899"/>
              </a:tblGrid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配方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代码现状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需改动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冻视觉编码器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LLM 下半层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trainer.freeze_modules 只接受精确点路径；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4B 有 36 层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18 条路径即可；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建议加正则 / 区间语法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caption 共训</a:t>
                      </a:r>
                    </a:p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0.5·L(VLM-CE)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train_starvla_cotrain.py + loss_scale.vlm；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已注册 sharegpt4v_coco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 yaml；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VLAct 的 caption 源需注册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 + PI + GR00T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三头共监督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个框架全部单头；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训练器只读 action_loss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新框架 QwenMultiHead：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一次骨干前向，三头 loss 相加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维部分统一布局</a:t>
                      </a:r>
                    </a:p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mask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mask 消费端：masked_l1_loss；生产端：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UMI / MiniCPM 80 维；FM 头无 mask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transform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两个 FM 头加 mask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周期关节 wrap-aware L1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无任何模 2π 逻辑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loss 函数 + 数据侧 wrap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丢预训练头、重初始化、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全参解冻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029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pretrained_checkpoint + reload_modules</a:t>
                      </a:r>
                    </a:p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freeze_modules: ''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 PI 的 project_layers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>
            <a:off x="800100" y="5346382"/>
            <a:ext cx="8622754" cy="665607"/>
            <a:chOff x="800100" y="5346382"/>
            <a:chExt cx="8622754" cy="665607"/>
          </a:xfrm>
        </p:grpSpPr>
        <p:sp>
          <p:nvSpPr>
            <p:cNvPr id="10" name="Rectangle 10"/>
            <p:cNvSpPr/>
            <p:nvPr/>
          </p:nvSpPr>
          <p:spPr>
            <a:xfrm>
              <a:off x="800100" y="54102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318" y="5346382"/>
              <a:ext cx="8402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“已有”两项只需改 yaml；“缺失”两项需要新框架（QwenMultiHead）与新 loss 函数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5753100"/>
              <a:ext cx="76200" cy="762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5689282"/>
              <a:ext cx="7602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完整的 diff 级改动建议见 reports/02_starvla_codebase_analysis.md §9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497002"/>
              <a:ext cx="4037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来源：reports/02 §9 配方落点分析；starVLA_dev @ d81fc66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07 · 基准与路线图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研究持续预训练该用哪几个基准：五个优先，五个不建议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8235315" cy="322707"/>
            <a:chOff x="791718" y="1250632"/>
            <a:chExt cx="823531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训练集固定、提升只能来自骨干的基准优先；饱和、方差大或评测极贵的基准不建议</a:t>
              </a:r>
            </a:p>
          </p:txBody>
        </p:sp>
      </p:grpSp>
      <p:graphicFrame>
        <p:nvGraphicFramePr>
          <p:cNvPr id="9" name="p15-bench-table"/>
          <p:cNvGraphicFramePr>
            <a:graphicFrameLocks noGrp="1"/>
          </p:cNvGraphicFramePr>
          <p:nvPr/>
        </p:nvGraphicFramePr>
        <p:xfrm>
          <a:off x="609600" y="1676400"/>
          <a:ext cx="10972800" cy="2743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857251"/>
                <a:gridCol w="2857500"/>
                <a:gridCol w="2476500"/>
                <a:gridCol w="4781549"/>
              </a:tblGrid>
              <a:tr h="3429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考察的能力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LIBERO-plus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零样本鲁棒性（7 维扰动）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训练集固定，提升只能来自骨干；10,030 实例噪声小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RoboTwin 2.0 Base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少样本 + clean→random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条/任务放大表征价值；必须同报 clean 与 random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RoboCasa-GR1 数据比例曲线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未见本体样本效率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人形，形态 / 动作空间都不同；基线也要跑同样比例点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VLA-Arena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L0→L1/L2 外推、安全代价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与“表示能否支撑结构外推”一致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RoboDojo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第三方裁判 + 五维诊断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唯一带 Memory / Precision 拆分的榜单；适合最终报告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DE8F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不建议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LIBERO 标准版、SimplerEnv、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MetaWorld、CALVIN D→D、</a:t>
                      </a:r>
                    </a:p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BEHAVIOR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饱和、方差大、或评测成本极高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601980" y="4676775"/>
            <a:ext cx="8787765" cy="1303020"/>
            <a:chOff x="601980" y="4676775"/>
            <a:chExt cx="8787765" cy="1303020"/>
          </a:xfrm>
        </p:grpSpPr>
        <p:sp>
          <p:nvSpPr>
            <p:cNvPr id="10" name="TextBox 10"/>
            <p:cNvSpPr txBox="1"/>
            <p:nvPr/>
          </p:nvSpPr>
          <p:spPr>
            <a:xfrm>
              <a:off x="601980" y="4676775"/>
              <a:ext cx="8787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报告协议：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固定下游预算并写明 checkpoint 规则；≥3 seeds；区分见过 / held-out 本体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（VLAct 只有 GR1 与 ARX X5 是真 held-out）；RoboTwin 四个数都给；附表示层诊断（跨头迁移矩阵）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5400675"/>
              <a:ext cx="744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没有好基准的维度：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Memory（RoboDojo 6 任务几乎人人接近零）、中等长程分步计分、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跨本体零样本、动态场景（只有 DOMINO）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604266" y="6497002"/>
              <a:ext cx="4104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来源：reports/06 基准图谱；VLAct 与 StarVLA-α 的评测设定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07 · 基准与路线图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95639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研究路线图：六类 18 个方向，先做低成本高影响的诊断与协议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9647514" cy="322707"/>
            <a:chOff x="791718" y="1250632"/>
            <a:chExt cx="9647514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9647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优先 A1 诊断套件、F1 骨干协议、E2 三头开销；每月只换骨干，同时报“同头”与“跨头”数字</a:t>
              </a:r>
            </a:p>
          </p:txBody>
        </p:sp>
      </p:grpSp>
      <p:graphicFrame>
        <p:nvGraphicFramePr>
          <p:cNvPr id="9" name="p16-roadmap-table"/>
          <p:cNvGraphicFramePr>
            <a:graphicFrameLocks noGrp="1"/>
          </p:cNvGraphicFramePr>
          <p:nvPr/>
        </p:nvGraphicFramePr>
        <p:xfrm>
          <a:off x="609600" y="1676400"/>
          <a:ext cx="7239000" cy="42291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43001"/>
                <a:gridCol w="3714749"/>
                <a:gridCol w="2381250"/>
              </a:tblGrid>
              <a:tr h="3429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出发点的证据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表征诊断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骨干可复用性探针套件；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 自动化“哪层该冻”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decoder lock-in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只能间接观察；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冻结只有 3 档消融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预训练目标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 头多样性推广（FAST / 未来帧 /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 QA 头）；B2 辅助数据调度；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B3 潜动作 vs 多头；B4 世界模型辅助头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三头同头 +1.6～4.3；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全混合被稀释；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“广义 VLA 视角”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动作空间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可学习的部分统一布局；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几何一致参数化（SO(3)）；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零样本本体迁移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维手工表；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wrap loss +5；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GR1 20% 才 49.5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能力短板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记忆与长程；D2 语言泛化；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低数据下生成式头落后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 0.66；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Language −5.5；</a:t>
                      </a:r>
                    </a:p>
                    <a:p>
                      <a:pPr/>
                      <a:r>
                        <a:rPr lang="en-US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OFT 41.5 vs GR00T 22.9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 scaling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 规模曲线；E2 三头开销与降本；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 数据 × 配方 Pareto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4B；开销未量化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  <a:p>
                      <a:pPr/>
                      <a:r>
                        <a:rPr lang="zh-CN" sz="1200" b="1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评测方法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 骨干基准协议；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F2 generalist × 持续预训练；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 真机统计功效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只换骨干未标准化；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两条线未合并；n=10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p16-plan-table"/>
          <p:cNvGraphicFramePr>
            <a:graphicFrameLocks noGrp="1"/>
          </p:cNvGraphicFramePr>
          <p:nvPr/>
        </p:nvGraphicFramePr>
        <p:xfrm>
          <a:off x="8229600" y="1676400"/>
          <a:ext cx="3352800" cy="3771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1"/>
                <a:gridCol w="2971799"/>
              </a:tblGrid>
              <a:tr h="3429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5F677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目标与交付（16 GPU）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F24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 VLAct；探针 +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骨干基准脚本；三头开销表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 自动冻结；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 头组合因子实验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跨头迁移矩阵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记忆三路线小规模验证；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步数曲线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可学习布局，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 GR1 做三本体预训练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 调度器；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B4 特征预测辅助头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（DOMINO / Random）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0173B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整合最优组合，全基准评测 +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RoboDojo 提交，成文并向</a:t>
                      </a:r>
                    </a:p>
                    <a:p>
                      <a:pPr/>
                      <a:r>
                        <a:rPr lang="zh-CN" sz="1200" b="0">
                          <a:solidFill>
                            <a:srgbClr val="1B1F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StarVLA 提 PR</a:t>
                      </a:r>
                    </a:p>
                  </a:txBody>
                  <a:tcPr anchor="ctr"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9D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8222742" y="5569268"/>
            <a:ext cx="2348008" cy="721233"/>
            <a:chOff x="8222742" y="5569268"/>
            <a:chExt cx="2348008" cy="721233"/>
          </a:xfrm>
        </p:grpSpPr>
        <p:sp>
          <p:nvSpPr>
            <p:cNvPr id="11" name="TextBox 11"/>
            <p:cNvSpPr txBox="1"/>
            <p:nvPr/>
          </p:nvSpPr>
          <p:spPr>
            <a:xfrm>
              <a:off x="8222742" y="5569268"/>
              <a:ext cx="234800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高影响 / 低成本：</a:t>
              </a:r>
              <a:r>
                <a:rPr lang="zh-CN" sz="13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A1、F1、E2</a:t>
              </a:r>
              <a:br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高影响 / 中成本：B1、D1、C1</a:t>
              </a:r>
              <a:br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高成本：B4、E1（很高）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604266" y="6497002"/>
              <a:ext cx="4364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来源：reports/07 研究路线图（做法、代码落点、评测方案与风险）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305752"/>
            <a:ext cx="10972800" cy="770573"/>
            <a:chOff x="609600" y="305752"/>
            <a:chExt cx="10972800" cy="770573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429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94766" y="30575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08 · 结论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7146" y="543878"/>
              <a:ext cx="24786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三个 takeaway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91718" y="1250632"/>
            <a:ext cx="5125593" cy="322707"/>
            <a:chOff x="791718" y="1250632"/>
            <a:chExt cx="5125593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791718" y="125063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回到开场的问题：预训练不是双刃剑，配方决定符号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824990"/>
            <a:ext cx="8870632" cy="916305"/>
            <a:chOff x="590550" y="1824990"/>
            <a:chExt cx="8870632" cy="916305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8897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BFD7E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1824990"/>
              <a:ext cx="37614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VLM 骨干是 VLA 的一阶设计变量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1130" y="2181225"/>
              <a:ext cx="804005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只换骨干权重就能拿到 </a:t>
              </a:r>
              <a:r>
                <a:rPr lang="zh-CN" sz="150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7.6～21.4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 个点；朴素动作拟合会把它变成负资产（GR1 9.8 → </a:t>
              </a:r>
              <a:r>
                <a:rPr lang="en-US" sz="1500" b="1" dirty="0">
                  <a:solidFill>
                    <a:srgbClr val="DE8F05"/>
                  </a:solidFill>
                  <a:latin typeface="Arial"/>
                  <a:ea typeface="Arial"/>
                  <a:cs typeface="Arial"/>
                </a:rPr>
                <a:t>1.2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），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保护先验 + 多头 + 统一动作空间把它变成净收益（</a:t>
              </a:r>
              <a:r>
                <a:rPr lang="zh-CN" sz="1500" b="1" dirty="0">
                  <a:solidFill>
                    <a:srgbClr val="029E73"/>
                  </a:solidFill>
                  <a:latin typeface="Arial"/>
                  <a:ea typeface="Microsoft YaHei"/>
                  <a:cs typeface="Arial"/>
                </a:rPr>
                <a:t>20% 数据超全量 GR00T-N1.6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）。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3200400"/>
            <a:ext cx="10991850" cy="1064895"/>
            <a:chOff x="590550" y="3200400"/>
            <a:chExt cx="10991850" cy="1064895"/>
          </a:xfrm>
        </p:grpSpPr>
        <p:sp>
          <p:nvSpPr>
            <p:cNvPr id="13" name="Line 13"/>
            <p:cNvSpPr/>
            <p:nvPr/>
          </p:nvSpPr>
          <p:spPr>
            <a:xfrm>
              <a:off x="609600" y="3200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550" y="34137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BFD7E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3489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头多样性是一种廉价的正则化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130" y="3705225"/>
              <a:ext cx="865917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单头预训练造成 decoder lock-in（PI 60.5 → </a:t>
              </a:r>
              <a:r>
                <a:rPr lang="en-US" sz="1500" b="1" dirty="0">
                  <a:solidFill>
                    <a:srgbClr val="DE8F05"/>
                  </a:solidFill>
                  <a:latin typeface="Arial"/>
                  <a:ea typeface="Arial"/>
                  <a:cs typeface="Arial"/>
                </a:rPr>
                <a:t>55.1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），加一个头就翻正，三头对同头也涨 </a:t>
              </a:r>
              <a:r>
                <a:rPr lang="zh-CN" sz="1500" b="1" dirty="0">
                  <a:solidFill>
                    <a:srgbClr val="029E73"/>
                  </a:solidFill>
                  <a:latin typeface="Arial"/>
                  <a:ea typeface="Microsoft YaHei"/>
                  <a:cs typeface="Arial"/>
                </a:rPr>
                <a:t>1.6～4.3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。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这个原则可以推到非动作头。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4724400"/>
            <a:ext cx="10991850" cy="1064895"/>
            <a:chOff x="590550" y="4724400"/>
            <a:chExt cx="10991850" cy="1064895"/>
          </a:xfrm>
        </p:grpSpPr>
        <p:sp>
          <p:nvSpPr>
            <p:cNvPr id="18" name="Line 18"/>
            <p:cNvSpPr/>
            <p:nvPr/>
          </p:nvSpPr>
          <p:spPr>
            <a:xfrm>
              <a:off x="609600" y="472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9D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0550" y="49377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BFD7E8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4872990"/>
              <a:ext cx="514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StarVLA 让“只改一个变量”成为默认工作方式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130" y="5229225"/>
              <a:ext cx="8035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两条契约 + 13 个基准 + 79% 的 256 卡扩展效率；下一步最值钱的是诊断工具、骨干基准协议，</a:t>
              </a:r>
              <a:br/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 xml:space="preserve">以及所有人都接近零的 </a:t>
              </a:r>
              <a:r>
                <a:rPr lang="zh-CN" sz="1500" b="1" dirty="0">
                  <a:solidFill>
                    <a:srgbClr val="0173B2"/>
                  </a:solidFill>
                  <a:latin typeface="Arial"/>
                  <a:ea typeface="Microsoft YaHei"/>
                  <a:cs typeface="Arial"/>
                </a:rPr>
                <a:t>Memory 维度</a:t>
              </a:r>
              <a:r>
                <a:rPr lang="zh-CN" sz="150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604266" y="6497002"/>
              <a:ext cx="4696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29C"/>
                  </a:solidFill>
                  <a:latin typeface="Arial"/>
                  <a:ea typeface="Microsoft YaHei"/>
                  <a:cs typeface="Arial"/>
                </a:rPr>
                <a:t>来源：本报告综合 StarVLA、StarVLA-α、VLAct 三篇论文与代码库分析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A929C"/>
                  </a:solidFill>
                  <a:latin typeface="Arial"/>
                  <a:ea typeface="Arial"/>
                  <a:cs typeface="Arial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4000500" cy="6858000"/>
            <a:chOff x="0" y="0"/>
            <a:chExt cx="40005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000500" cy="68580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4350" y="259461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33166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配方决定符号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7304" y="6042660"/>
              <a:ext cx="2467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awesome_starvla · 2026 年 9 月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72356" y="1985010"/>
            <a:ext cx="6201766" cy="1714691"/>
            <a:chOff x="4372356" y="1985010"/>
            <a:chExt cx="6201766" cy="1714691"/>
          </a:xfrm>
        </p:grpSpPr>
        <p:sp>
          <p:nvSpPr>
            <p:cNvPr id="7" name="TextBox 7"/>
            <p:cNvSpPr txBox="1"/>
            <p:nvPr/>
          </p:nvSpPr>
          <p:spPr>
            <a:xfrm>
              <a:off x="4375404" y="1985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仓库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72356" y="2301240"/>
              <a:ext cx="5984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u="sng" dirty="0">
                  <a:solidFill>
                    <a:srgbClr val="0173B2"/>
                  </a:solidFill>
                  <a:latin typeface="Arial"/>
                  <a:ea typeface="Arial"/>
                  <a:cs typeface="Arial"/>
                  <a:hlinkClick r:id="rId2"/>
                </a:rPr>
                <a:t>https://github.com/asimfish/awesome_starvla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73118" y="2793682"/>
              <a:ext cx="62010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3 篇论文中英 PDF · 7 份精读报告 · 文献编目 · 本 PPT 源码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74642" y="3188018"/>
              <a:ext cx="55858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7 份精读报告：01 VLAct 精读 · 02 StarVLA 代码库分析 · 03 StarVLA-α</a:t>
              </a:r>
              <a:br/>
              <a:r>
                <a:rPr lang="zh-CN" sz="1350" dirty="0">
                  <a:solidFill>
                    <a:srgbClr val="5F6772"/>
                  </a:solidFill>
                  <a:latin typeface="Arial"/>
                  <a:ea typeface="Microsoft YaHei"/>
                  <a:cs typeface="Arial"/>
                </a:rPr>
                <a:t>04 代码库报告 · 05 动作头与表示 · 06 基准图谱 · 07 研究路线图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74642" y="4083368"/>
            <a:ext cx="5971794" cy="1812988"/>
            <a:chOff x="4374642" y="4083368"/>
            <a:chExt cx="5971794" cy="1812988"/>
          </a:xfrm>
        </p:grpSpPr>
        <p:sp>
          <p:nvSpPr>
            <p:cNvPr id="12" name="TextBox 12"/>
            <p:cNvSpPr txBox="1"/>
            <p:nvPr/>
          </p:nvSpPr>
          <p:spPr>
            <a:xfrm>
              <a:off x="43746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F24"/>
                  </a:solidFill>
                  <a:latin typeface="Arial"/>
                  <a:ea typeface="Microsoft YaHei"/>
                  <a:cs typeface="Arial"/>
                </a:rPr>
                <a:t>主要文献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5404" y="4385310"/>
              <a:ext cx="59710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S. Yang, C. Wang, et al. Beyond Data Scaling: Representation-Centric Continued</a:t>
              </a:r>
              <a:br/>
              <a:r>
                <a:rPr lang="en-US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Pre-training for Vision-Language-Action Models. arXiv:2608.27550, 2026.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75404" y="4918710"/>
              <a:ext cx="479755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l-GR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J. Ye, N. Gao, S. Yang, et al. StarVLA-α: Reducing Complexity in</a:t>
              </a:r>
              <a:br/>
              <a:r>
                <a:rPr lang="en-US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Vision-Language-Action Systems. arXiv:2604.11757, ECCV 2026.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5404" y="5452110"/>
              <a:ext cx="586435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StarVLA Community. StarVLA: A Lego-like Codebase for Vision-Language-Action</a:t>
              </a:r>
              <a:br/>
              <a:r>
                <a:rPr lang="en-US" sz="1200" dirty="0">
                  <a:solidFill>
                    <a:srgbClr val="5F6772"/>
                  </a:solidFill>
                  <a:latin typeface="Arial"/>
                  <a:ea typeface="Arial"/>
                  <a:cs typeface="Arial"/>
                </a:rPr>
                <a:t>Model Developing. arXiv:2604.05014, 2026. github.com/starVLA/starVLA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wesome_starvla">
  <a:themeElements>
    <a:clrScheme name="awesome_starvl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wesome_starvl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wesome_starv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2026-09-04T19:22:17Z</dcterms:created>
  <dcterms:modified xsi:type="dcterms:W3CDTF">2026-09-04T19:22:17Z</dcterms:modified>
  <cp:category/>
  <cp:contentStatus/>
</cp:coreProperties>
</file>